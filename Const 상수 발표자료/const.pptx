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83" r:id="rId4"/>
    <p:sldId id="256" r:id="rId5"/>
    <p:sldId id="271" r:id="rId6"/>
    <p:sldId id="284" r:id="rId7"/>
    <p:sldId id="285" r:id="rId8"/>
    <p:sldId id="286" r:id="rId9"/>
    <p:sldId id="287" r:id="rId10"/>
    <p:sldId id="28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D1C9"/>
    <a:srgbClr val="4FA798"/>
    <a:srgbClr val="72BCB0"/>
    <a:srgbClr val="7FC3B8"/>
    <a:srgbClr val="FF643F"/>
    <a:srgbClr val="FF4F25"/>
    <a:srgbClr val="40887C"/>
    <a:srgbClr val="FFC6B7"/>
    <a:srgbClr val="FF9396"/>
    <a:srgbClr val="8DC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87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48" y="9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6808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145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887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73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585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03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69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43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0811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8695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84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AEF6C-3BD6-4EBD-BD12-E28D8573A78F}" type="datetimeFigureOut">
              <a:rPr lang="ko-KR" altLang="en-US" smtClean="0"/>
              <a:t>2017. 4. 10.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596D9-2D62-4629-AA58-2F6989602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080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14" y="101166"/>
            <a:ext cx="12378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" panose="020B0600000101010101" pitchFamily="50" charset="-127"/>
                <a:ea typeface="나눔스퀘어" panose="020B0600000101010101" pitchFamily="50" charset="-127"/>
              </a:rPr>
              <a:t>게임 프로그래밍</a:t>
            </a:r>
            <a:endParaRPr lang="ko-KR" altLang="en-US" sz="1200" dirty="0">
              <a:ln>
                <a:solidFill>
                  <a:schemeClr val="bg1">
                    <a:alpha val="0"/>
                  </a:schemeClr>
                </a:solidFill>
              </a:ln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8067" y="4430806"/>
            <a:ext cx="390301" cy="57822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837" y="5439333"/>
            <a:ext cx="319186" cy="47286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6564" y="5170392"/>
            <a:ext cx="272302" cy="4034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9322" y="1672930"/>
            <a:ext cx="1008801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600" dirty="0" smtClean="0">
                <a:solidFill>
                  <a:srgbClr val="55AFA0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#C++</a:t>
            </a:r>
            <a:r>
              <a:rPr lang="ko-KR" altLang="en-US" sz="9600" dirty="0" smtClean="0">
                <a:solidFill>
                  <a:srgbClr val="55AFA0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 </a:t>
            </a:r>
            <a:r>
              <a:rPr lang="en-US" altLang="ko-KR" sz="9600" dirty="0" smtClean="0">
                <a:solidFill>
                  <a:srgbClr val="40887C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#</a:t>
            </a:r>
            <a:r>
              <a:rPr lang="en-US" altLang="ko-KR" sz="9600" dirty="0" err="1" smtClean="0">
                <a:solidFill>
                  <a:srgbClr val="40887C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Const</a:t>
            </a:r>
            <a:r>
              <a:rPr lang="en-US" altLang="ko-KR" sz="9600" dirty="0" smtClean="0">
                <a:solidFill>
                  <a:srgbClr val="40887C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(</a:t>
            </a:r>
            <a:r>
              <a:rPr lang="ko-KR" altLang="en-US" sz="9600" dirty="0" smtClean="0">
                <a:solidFill>
                  <a:srgbClr val="40887C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상수</a:t>
            </a:r>
            <a:r>
              <a:rPr lang="en-US" altLang="ko-KR" sz="9600" dirty="0" smtClean="0">
                <a:solidFill>
                  <a:srgbClr val="40887C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)</a:t>
            </a:r>
          </a:p>
          <a:p>
            <a:pPr algn="ctr"/>
            <a:r>
              <a:rPr lang="en-US" altLang="ko-KR" sz="9600" dirty="0" smtClean="0">
                <a:solidFill>
                  <a:srgbClr val="7FC3B8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#</a:t>
            </a:r>
            <a:r>
              <a:rPr lang="ko-KR" altLang="en-US" sz="9600" dirty="0" smtClean="0">
                <a:solidFill>
                  <a:srgbClr val="7FC3B8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발표</a:t>
            </a:r>
            <a:endParaRPr lang="en-US" altLang="ko-KR" sz="9600" dirty="0" smtClean="0">
              <a:solidFill>
                <a:srgbClr val="7FC3B8"/>
              </a:solidFill>
              <a:latin typeface="Rix미니버스D R" panose="02000503000000000000" pitchFamily="2" charset="-127"/>
              <a:ea typeface="Rix미니버스D R" panose="02000503000000000000" pitchFamily="2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982" y="5622802"/>
            <a:ext cx="390689" cy="578798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559" y="5523091"/>
            <a:ext cx="206113" cy="305352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953" y="4279898"/>
            <a:ext cx="373051" cy="552668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6553" y="1222456"/>
            <a:ext cx="343391" cy="50872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89" y="3351120"/>
            <a:ext cx="287288" cy="425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756" y="998906"/>
            <a:ext cx="281991" cy="41776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414" y="4635721"/>
            <a:ext cx="526495" cy="77999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662" y="3538881"/>
            <a:ext cx="272302" cy="403411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897" y="1241962"/>
            <a:ext cx="494790" cy="70438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98083" y="1653954"/>
            <a:ext cx="2351926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latin typeface="나눔바른고딕 Light" panose="020B0603020101020101" pitchFamily="50" charset="-127"/>
                <a:ea typeface="나눔바른고딕 Light" panose="020B0603020101020101" pitchFamily="50" charset="-127"/>
              </a:defRPr>
            </a:lvl1pPr>
          </a:lstStyle>
          <a:p>
            <a:pPr algn="ctr"/>
            <a:r>
              <a:rPr lang="ko-KR" altLang="en-US" sz="3200" dirty="0" smtClean="0">
                <a:ln w="9525">
                  <a:noFill/>
                </a:ln>
                <a:solidFill>
                  <a:srgbClr val="74BEB2"/>
                </a:solidFill>
                <a:latin typeface="210 싸나이 L" panose="02020603020101020101" pitchFamily="18" charset="-127"/>
                <a:ea typeface="210 싸나이 L" panose="02020603020101020101" pitchFamily="18" charset="-127"/>
              </a:rPr>
              <a:t>구성원 소개</a:t>
            </a:r>
            <a:endParaRPr lang="ko-KR" altLang="en-US" sz="3200" dirty="0">
              <a:ln w="9525">
                <a:noFill/>
              </a:ln>
              <a:solidFill>
                <a:srgbClr val="74BEB2"/>
              </a:solidFill>
              <a:latin typeface="210 싸나이 L" panose="02020603020101020101" pitchFamily="18" charset="-127"/>
              <a:ea typeface="210 싸나이 L" panose="02020603020101020101" pitchFamily="18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048838" y="2697270"/>
            <a:ext cx="4035079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latin typeface="나눔바른고딕 Light" panose="020B0603020101020101" pitchFamily="50" charset="-127"/>
                <a:ea typeface="나눔바른고딕 Light" panose="020B0603020101020101" pitchFamily="50" charset="-127"/>
              </a:defRPr>
            </a:lvl1pPr>
          </a:lstStyle>
          <a:p>
            <a:pPr algn="ctr"/>
            <a:r>
              <a:rPr lang="en-US" altLang="ko-KR" sz="3200" dirty="0" err="1" smtClean="0">
                <a:ln w="9525">
                  <a:noFill/>
                </a:ln>
                <a:solidFill>
                  <a:srgbClr val="4FA798"/>
                </a:solidFill>
                <a:latin typeface="210 싸나이 L" panose="02020603020101020101" pitchFamily="18" charset="-127"/>
                <a:ea typeface="210 싸나이 L" panose="02020603020101020101" pitchFamily="18" charset="-127"/>
              </a:rPr>
              <a:t>const</a:t>
            </a:r>
            <a:r>
              <a:rPr lang="en-US" altLang="ko-KR" sz="3200" dirty="0" smtClean="0">
                <a:ln w="9525">
                  <a:noFill/>
                </a:ln>
                <a:solidFill>
                  <a:srgbClr val="4FA798"/>
                </a:solidFill>
                <a:latin typeface="210 싸나이 L" panose="02020603020101020101" pitchFamily="18" charset="-127"/>
                <a:ea typeface="210 싸나이 L" panose="02020603020101020101" pitchFamily="18" charset="-127"/>
              </a:rPr>
              <a:t> </a:t>
            </a:r>
            <a:r>
              <a:rPr lang="ko-KR" altLang="en-US" sz="3200" dirty="0" smtClean="0">
                <a:ln w="9525">
                  <a:noFill/>
                </a:ln>
                <a:solidFill>
                  <a:srgbClr val="4FA798"/>
                </a:solidFill>
                <a:latin typeface="210 싸나이 L" panose="02020603020101020101" pitchFamily="18" charset="-127"/>
                <a:ea typeface="210 싸나이 L" panose="02020603020101020101" pitchFamily="18" charset="-127"/>
              </a:rPr>
              <a:t>에 대한 </a:t>
            </a:r>
            <a:r>
              <a:rPr lang="ko-KR" altLang="en-US" sz="3200" dirty="0" smtClean="0">
                <a:ln w="9525">
                  <a:noFill/>
                </a:ln>
                <a:solidFill>
                  <a:srgbClr val="4FA798"/>
                </a:solidFill>
                <a:latin typeface="210 싸나이 L" panose="02020603020101020101" pitchFamily="18" charset="-127"/>
                <a:ea typeface="210 싸나이 L" panose="02020603020101020101" pitchFamily="18" charset="-127"/>
              </a:rPr>
              <a:t>소개</a:t>
            </a:r>
            <a:endParaRPr lang="ko-KR" altLang="en-US" sz="3200" dirty="0">
              <a:ln w="9525">
                <a:noFill/>
              </a:ln>
              <a:solidFill>
                <a:srgbClr val="4FA798"/>
              </a:solidFill>
              <a:latin typeface="210 싸나이 L" panose="02020603020101020101" pitchFamily="18" charset="-127"/>
              <a:ea typeface="210 싸나이 L" panose="02020603020101020101" pitchFamily="18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90414" y="3715300"/>
            <a:ext cx="2351926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latin typeface="나눔바른고딕 Light" panose="020B0603020101020101" pitchFamily="50" charset="-127"/>
                <a:ea typeface="나눔바른고딕 Light" panose="020B0603020101020101" pitchFamily="50" charset="-127"/>
              </a:defRPr>
            </a:lvl1pPr>
          </a:lstStyle>
          <a:p>
            <a:pPr algn="ctr"/>
            <a:r>
              <a:rPr lang="ko-KR" altLang="en-US" sz="3200" dirty="0" smtClean="0">
                <a:ln w="9525">
                  <a:noFill/>
                </a:ln>
                <a:solidFill>
                  <a:srgbClr val="469487"/>
                </a:solidFill>
                <a:latin typeface="210 싸나이 L" panose="02020603020101020101" pitchFamily="18" charset="-127"/>
                <a:ea typeface="210 싸나이 L" panose="02020603020101020101" pitchFamily="18" charset="-127"/>
              </a:rPr>
              <a:t>자세한 설명</a:t>
            </a:r>
            <a:endParaRPr lang="ko-KR" altLang="en-US" sz="3200" dirty="0">
              <a:ln w="9525">
                <a:noFill/>
              </a:ln>
              <a:solidFill>
                <a:srgbClr val="469487"/>
              </a:solidFill>
              <a:latin typeface="210 싸나이 L" panose="02020603020101020101" pitchFamily="18" charset="-127"/>
              <a:ea typeface="210 싸나이 L" panose="02020603020101020101" pitchFamily="18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76528" y="4733330"/>
            <a:ext cx="595035" cy="58477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600">
                <a:ln>
                  <a:solidFill>
                    <a:schemeClr val="bg1">
                      <a:alpha val="0"/>
                    </a:schemeClr>
                  </a:solidFill>
                </a:ln>
                <a:latin typeface="나눔바른고딕 Light" panose="020B0603020101020101" pitchFamily="50" charset="-127"/>
                <a:ea typeface="나눔바른고딕 Light" panose="020B0603020101020101" pitchFamily="50" charset="-127"/>
              </a:defRPr>
            </a:lvl1pPr>
          </a:lstStyle>
          <a:p>
            <a:pPr algn="ctr"/>
            <a:r>
              <a:rPr lang="ko-KR" altLang="en-US" sz="3200" dirty="0" smtClean="0">
                <a:ln w="9525">
                  <a:noFill/>
                </a:ln>
                <a:solidFill>
                  <a:srgbClr val="30665D"/>
                </a:solidFill>
                <a:latin typeface="210 싸나이 L" panose="02020603020101020101" pitchFamily="18" charset="-127"/>
                <a:ea typeface="210 싸나이 L" panose="02020603020101020101" pitchFamily="18" charset="-127"/>
              </a:rPr>
              <a:t>끝</a:t>
            </a:r>
            <a:endParaRPr lang="en-US" altLang="ko-KR" sz="3200" dirty="0" smtClean="0">
              <a:ln w="9525">
                <a:noFill/>
              </a:ln>
              <a:solidFill>
                <a:srgbClr val="30665D"/>
              </a:solidFill>
              <a:latin typeface="210 싸나이 L" panose="02020603020101020101" pitchFamily="18" charset="-127"/>
              <a:ea typeface="210 싸나이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8809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0340" y="120523"/>
            <a:ext cx="50561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2800">
                <a:ln w="9525">
                  <a:noFill/>
                </a:ln>
                <a:solidFill>
                  <a:srgbClr val="99D1C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4FA79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구성원 소개     </a:t>
            </a:r>
            <a:r>
              <a:rPr lang="en-US" altLang="ko-KR" sz="1600" dirty="0" err="1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const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대한 소개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자세한 설명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끄트</a:t>
            </a:r>
            <a:endParaRPr lang="ko-KR" altLang="en-US" sz="1600" dirty="0">
              <a:ln w="9525">
                <a:solidFill>
                  <a:schemeClr val="bg1">
                    <a:alpha val="0"/>
                  </a:schemeClr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92" y="5593298"/>
            <a:ext cx="281991" cy="4177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625" y="6001562"/>
            <a:ext cx="481963" cy="68611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7" y="5528931"/>
            <a:ext cx="517857" cy="76719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29" y="5968780"/>
            <a:ext cx="369684" cy="547682"/>
          </a:xfrm>
          <a:prstGeom prst="rect">
            <a:avLst/>
          </a:prstGeom>
        </p:spPr>
      </p:pic>
      <p:grpSp>
        <p:nvGrpSpPr>
          <p:cNvPr id="13" name="그룹 12"/>
          <p:cNvGrpSpPr/>
          <p:nvPr/>
        </p:nvGrpSpPr>
        <p:grpSpPr>
          <a:xfrm>
            <a:off x="70340" y="846779"/>
            <a:ext cx="12192000" cy="427406"/>
            <a:chOff x="0" y="901067"/>
            <a:chExt cx="12192000" cy="427406"/>
          </a:xfrm>
        </p:grpSpPr>
        <p:sp>
          <p:nvSpPr>
            <p:cNvPr id="12" name="직사각형 11"/>
            <p:cNvSpPr/>
            <p:nvPr/>
          </p:nvSpPr>
          <p:spPr>
            <a:xfrm>
              <a:off x="0" y="928363"/>
              <a:ext cx="12192000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98752" y="901067"/>
              <a:ext cx="184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320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210 싸나이 L" panose="02020603020101020101" pitchFamily="18" charset="-127"/>
                  <a:ea typeface="210 싸나이 L" panose="02020603020101020101" pitchFamily="18" charset="-127"/>
                </a:defRPr>
              </a:lvl1pPr>
            </a:lstStyle>
            <a:p>
              <a:endParaRPr lang="en-US" altLang="ko-KR" sz="2000" dirty="0" smtClean="0"/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075" y="2547972"/>
            <a:ext cx="1786197" cy="178619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786143" y="1667981"/>
            <a:ext cx="2288522" cy="3547465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534" y="1967150"/>
            <a:ext cx="2182091" cy="290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70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오른쪽 화살표 11"/>
          <p:cNvSpPr/>
          <p:nvPr/>
        </p:nvSpPr>
        <p:spPr>
          <a:xfrm>
            <a:off x="0" y="2003904"/>
            <a:ext cx="12192000" cy="2743200"/>
          </a:xfrm>
          <a:prstGeom prst="rightArrow">
            <a:avLst>
              <a:gd name="adj1" fmla="val 50000"/>
              <a:gd name="adj2" fmla="val 49873"/>
            </a:avLst>
          </a:prstGeom>
          <a:solidFill>
            <a:srgbClr val="E0F0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92" y="5593298"/>
            <a:ext cx="281991" cy="41776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625" y="6001562"/>
            <a:ext cx="481963" cy="686119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7" y="5528931"/>
            <a:ext cx="517857" cy="767197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29" y="5968780"/>
            <a:ext cx="369684" cy="5476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08641" y="1488071"/>
            <a:ext cx="2396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변수에서 </a:t>
            </a:r>
            <a:r>
              <a:rPr lang="en-US" altLang="ko-KR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const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를 사용하는 방식</a:t>
            </a:r>
            <a:endParaRPr lang="ko-KR" altLang="en-US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2223" y="4770997"/>
            <a:ext cx="1410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r"/>
            <a:r>
              <a:rPr lang="en-US" altLang="ko-KR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const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란 무엇인가</a:t>
            </a:r>
            <a:r>
              <a:rPr lang="en-US" altLang="ko-KR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?</a:t>
            </a:r>
            <a:endParaRPr lang="ko-KR" altLang="en-US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1002425" y="4057797"/>
            <a:ext cx="0" cy="932934"/>
          </a:xfrm>
          <a:prstGeom prst="line">
            <a:avLst/>
          </a:prstGeom>
          <a:ln w="28575">
            <a:solidFill>
              <a:srgbClr val="46948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/>
          <p:cNvSpPr/>
          <p:nvPr/>
        </p:nvSpPr>
        <p:spPr>
          <a:xfrm>
            <a:off x="940808" y="4010467"/>
            <a:ext cx="122830" cy="122830"/>
          </a:xfrm>
          <a:prstGeom prst="ellipse">
            <a:avLst/>
          </a:prstGeom>
          <a:solidFill>
            <a:schemeClr val="bg1"/>
          </a:solidFill>
          <a:ln>
            <a:solidFill>
              <a:srgbClr val="306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/>
          <p:cNvCxnSpPr/>
          <p:nvPr/>
        </p:nvCxnSpPr>
        <p:spPr>
          <a:xfrm>
            <a:off x="2775498" y="1538906"/>
            <a:ext cx="0" cy="1040590"/>
          </a:xfrm>
          <a:prstGeom prst="line">
            <a:avLst/>
          </a:prstGeom>
          <a:ln w="28575">
            <a:solidFill>
              <a:srgbClr val="46948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/>
          <p:cNvSpPr/>
          <p:nvPr/>
        </p:nvSpPr>
        <p:spPr>
          <a:xfrm>
            <a:off x="2708641" y="2569462"/>
            <a:ext cx="122830" cy="122830"/>
          </a:xfrm>
          <a:prstGeom prst="ellipse">
            <a:avLst/>
          </a:prstGeom>
          <a:solidFill>
            <a:schemeClr val="bg1"/>
          </a:solidFill>
          <a:ln>
            <a:solidFill>
              <a:srgbClr val="306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/>
          <p:cNvSpPr/>
          <p:nvPr/>
        </p:nvSpPr>
        <p:spPr>
          <a:xfrm>
            <a:off x="0" y="673931"/>
            <a:ext cx="1405329" cy="338554"/>
          </a:xfrm>
          <a:prstGeom prst="rect">
            <a:avLst/>
          </a:prstGeom>
          <a:solidFill>
            <a:srgbClr val="C2E4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212786" y="662069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수업 </a:t>
            </a:r>
            <a:r>
              <a:rPr lang="ko-KR" altLang="en-US" sz="1600" dirty="0" smtClean="0">
                <a:ln>
                  <a:solidFill>
                    <a:schemeClr val="bg1">
                      <a:alpha val="0"/>
                    </a:schemeClr>
                  </a:solidFill>
                </a:ln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설명</a:t>
            </a:r>
            <a:endParaRPr lang="en-US" altLang="ko-KR" sz="1600" dirty="0">
              <a:ln>
                <a:solidFill>
                  <a:schemeClr val="bg1">
                    <a:alpha val="0"/>
                  </a:scheme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82862" y="4909496"/>
            <a:ext cx="2396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함수에서 </a:t>
            </a:r>
            <a:r>
              <a:rPr lang="en-US" altLang="ko-KR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const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를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 사용하는 방식</a:t>
            </a:r>
            <a:endParaRPr lang="ko-KR" altLang="en-US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cxnSp>
        <p:nvCxnSpPr>
          <p:cNvPr id="21" name="직선 연결선 35"/>
          <p:cNvCxnSpPr/>
          <p:nvPr/>
        </p:nvCxnSpPr>
        <p:spPr>
          <a:xfrm>
            <a:off x="3615133" y="4120303"/>
            <a:ext cx="0" cy="1040590"/>
          </a:xfrm>
          <a:prstGeom prst="line">
            <a:avLst/>
          </a:prstGeom>
          <a:ln w="28575">
            <a:solidFill>
              <a:srgbClr val="46948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/>
          <p:cNvSpPr/>
          <p:nvPr/>
        </p:nvSpPr>
        <p:spPr>
          <a:xfrm>
            <a:off x="3549473" y="3986306"/>
            <a:ext cx="122830" cy="122830"/>
          </a:xfrm>
          <a:prstGeom prst="ellipse">
            <a:avLst/>
          </a:prstGeom>
          <a:solidFill>
            <a:schemeClr val="bg1"/>
          </a:solidFill>
          <a:ln>
            <a:solidFill>
              <a:srgbClr val="306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6107238" y="1488071"/>
            <a:ext cx="2396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객체에서 </a:t>
            </a:r>
            <a:r>
              <a:rPr lang="en-US" altLang="ko-KR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const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를 사용하는 방식</a:t>
            </a:r>
            <a:endParaRPr lang="ko-KR" altLang="en-US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cxnSp>
        <p:nvCxnSpPr>
          <p:cNvPr id="26" name="직선 연결선 35"/>
          <p:cNvCxnSpPr/>
          <p:nvPr/>
        </p:nvCxnSpPr>
        <p:spPr>
          <a:xfrm>
            <a:off x="6174095" y="1538906"/>
            <a:ext cx="0" cy="1040590"/>
          </a:xfrm>
          <a:prstGeom prst="line">
            <a:avLst/>
          </a:prstGeom>
          <a:ln w="28575">
            <a:solidFill>
              <a:srgbClr val="46948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/>
          <p:cNvSpPr/>
          <p:nvPr/>
        </p:nvSpPr>
        <p:spPr>
          <a:xfrm>
            <a:off x="6107238" y="2569462"/>
            <a:ext cx="122830" cy="122830"/>
          </a:xfrm>
          <a:prstGeom prst="ellipse">
            <a:avLst/>
          </a:prstGeom>
          <a:solidFill>
            <a:schemeClr val="bg1"/>
          </a:solidFill>
          <a:ln>
            <a:solidFill>
              <a:srgbClr val="306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789442" y="4956373"/>
            <a:ext cx="2396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함수에서 </a:t>
            </a:r>
            <a:r>
              <a:rPr lang="en-US" altLang="ko-KR" dirty="0" err="1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const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를</a:t>
            </a:r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 사용하는 방식</a:t>
            </a:r>
            <a:endParaRPr lang="ko-KR" altLang="en-US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cxnSp>
        <p:nvCxnSpPr>
          <p:cNvPr id="34" name="직선 연결선 35"/>
          <p:cNvCxnSpPr/>
          <p:nvPr/>
        </p:nvCxnSpPr>
        <p:spPr>
          <a:xfrm>
            <a:off x="7821713" y="4167180"/>
            <a:ext cx="0" cy="1040590"/>
          </a:xfrm>
          <a:prstGeom prst="line">
            <a:avLst/>
          </a:prstGeom>
          <a:ln w="28575">
            <a:solidFill>
              <a:srgbClr val="46948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/>
          <p:cNvSpPr/>
          <p:nvPr/>
        </p:nvSpPr>
        <p:spPr>
          <a:xfrm>
            <a:off x="7756053" y="4033183"/>
            <a:ext cx="122830" cy="122830"/>
          </a:xfrm>
          <a:prstGeom prst="ellipse">
            <a:avLst/>
          </a:prstGeom>
          <a:solidFill>
            <a:schemeClr val="bg1"/>
          </a:solidFill>
          <a:ln>
            <a:solidFill>
              <a:srgbClr val="306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연결선 35"/>
          <p:cNvCxnSpPr/>
          <p:nvPr/>
        </p:nvCxnSpPr>
        <p:spPr>
          <a:xfrm>
            <a:off x="9240539" y="1568471"/>
            <a:ext cx="0" cy="1040590"/>
          </a:xfrm>
          <a:prstGeom prst="line">
            <a:avLst/>
          </a:prstGeom>
          <a:ln w="28575">
            <a:solidFill>
              <a:srgbClr val="469487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타원 41"/>
          <p:cNvSpPr/>
          <p:nvPr/>
        </p:nvSpPr>
        <p:spPr>
          <a:xfrm>
            <a:off x="9173682" y="2599027"/>
            <a:ext cx="122830" cy="122830"/>
          </a:xfrm>
          <a:prstGeom prst="ellipse">
            <a:avLst/>
          </a:prstGeom>
          <a:solidFill>
            <a:schemeClr val="bg1"/>
          </a:solidFill>
          <a:ln>
            <a:solidFill>
              <a:srgbClr val="3066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9173682" y="1488071"/>
            <a:ext cx="2396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1200"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 smtClean="0">
                <a:ln>
                  <a:solidFill>
                    <a:schemeClr val="bg1">
                      <a:alpha val="0"/>
                    </a:schemeClr>
                  </a:solidFill>
                </a:ln>
              </a:rPr>
              <a:t>예외사항</a:t>
            </a:r>
            <a:endParaRPr lang="ko-KR" altLang="en-US" dirty="0">
              <a:ln>
                <a:solidFill>
                  <a:schemeClr val="bg1">
                    <a:alpha val="0"/>
                  </a:schemeClr>
                </a:solidFill>
              </a:ln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340" y="120523"/>
            <a:ext cx="50561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2800">
                <a:ln w="9525">
                  <a:noFill/>
                </a:ln>
                <a:solidFill>
                  <a:srgbClr val="99D1C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4FA79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구성원 소개     </a:t>
            </a:r>
            <a:r>
              <a:rPr lang="en-US" altLang="ko-KR" sz="1600" dirty="0" err="1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const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대한 소개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자세한 설명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끄트</a:t>
            </a:r>
            <a:endParaRPr lang="ko-KR" altLang="en-US" sz="1600" dirty="0">
              <a:ln w="9525">
                <a:solidFill>
                  <a:schemeClr val="bg1">
                    <a:alpha val="0"/>
                  </a:schemeClr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120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92" y="5593298"/>
            <a:ext cx="281991" cy="4177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625" y="6001562"/>
            <a:ext cx="481963" cy="68611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7" y="5528931"/>
            <a:ext cx="517857" cy="76719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29" y="5968780"/>
            <a:ext cx="369684" cy="547682"/>
          </a:xfrm>
          <a:prstGeom prst="rect">
            <a:avLst/>
          </a:prstGeom>
        </p:spPr>
      </p:pic>
      <p:grpSp>
        <p:nvGrpSpPr>
          <p:cNvPr id="13" name="그룹 12"/>
          <p:cNvGrpSpPr/>
          <p:nvPr/>
        </p:nvGrpSpPr>
        <p:grpSpPr>
          <a:xfrm>
            <a:off x="0" y="887419"/>
            <a:ext cx="12192000" cy="427406"/>
            <a:chOff x="0" y="901067"/>
            <a:chExt cx="12192000" cy="427406"/>
          </a:xfrm>
        </p:grpSpPr>
        <p:sp>
          <p:nvSpPr>
            <p:cNvPr id="12" name="직사각형 11"/>
            <p:cNvSpPr/>
            <p:nvPr/>
          </p:nvSpPr>
          <p:spPr>
            <a:xfrm>
              <a:off x="0" y="928363"/>
              <a:ext cx="12192000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 smtClean="0">
                  <a:solidFill>
                    <a:schemeClr val="tx1"/>
                  </a:solidFill>
                </a:rPr>
                <a:t>const</a:t>
              </a:r>
              <a:r>
                <a:rPr lang="ko-KR" altLang="en-US" dirty="0" smtClean="0">
                  <a:solidFill>
                    <a:schemeClr val="tx1"/>
                  </a:solidFill>
                </a:rPr>
                <a:t>란 무엇인가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98748" y="901067"/>
              <a:ext cx="184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320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210 싸나이 L" panose="02020603020101020101" pitchFamily="18" charset="-127"/>
                  <a:ea typeface="210 싸나이 L" panose="02020603020101020101" pitchFamily="18" charset="-127"/>
                </a:defRPr>
              </a:lvl1pPr>
            </a:lstStyle>
            <a:p>
              <a:endParaRPr lang="en-US" altLang="ko-KR" sz="2000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0340" y="120523"/>
            <a:ext cx="50561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2800">
                <a:ln w="9525">
                  <a:noFill/>
                </a:ln>
                <a:solidFill>
                  <a:srgbClr val="99D1C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4FA79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구성원 소개     </a:t>
            </a:r>
            <a:r>
              <a:rPr lang="en-US" altLang="ko-KR" sz="1600" dirty="0" err="1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const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대한 소개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자세한 설명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끄트</a:t>
            </a:r>
            <a:endParaRPr lang="ko-KR" altLang="en-US" sz="1600" dirty="0">
              <a:ln w="9525">
                <a:solidFill>
                  <a:schemeClr val="bg1">
                    <a:alpha val="0"/>
                  </a:schemeClr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35527" y="1704109"/>
            <a:ext cx="11734800" cy="34913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 smtClean="0"/>
              <a:t>c</a:t>
            </a:r>
            <a:r>
              <a:rPr kumimoji="1" lang="en-US" altLang="ko-KR" dirty="0" err="1" smtClean="0">
                <a:solidFill>
                  <a:schemeClr val="tx1"/>
                </a:solidFill>
              </a:rPr>
              <a:t>C</a:t>
            </a:r>
            <a:r>
              <a:rPr kumimoji="1" lang="en-US" altLang="ko-KR" dirty="0" smtClean="0">
                <a:solidFill>
                  <a:schemeClr val="tx1"/>
                </a:solidFill>
              </a:rPr>
              <a:t>++ </a:t>
            </a:r>
            <a:r>
              <a:rPr kumimoji="1" lang="ko-KR" altLang="en-US" dirty="0" smtClean="0">
                <a:solidFill>
                  <a:schemeClr val="tx1"/>
                </a:solidFill>
              </a:rPr>
              <a:t>코드상에서 처음 선언했을때의 값을 변화없이 사용하여 오류를 줄이기 위해 사용하는 것이다</a:t>
            </a:r>
            <a:r>
              <a:rPr kumimoji="1" lang="en-US" altLang="ko-KR" dirty="0" smtClean="0">
                <a:solidFill>
                  <a:schemeClr val="tx1"/>
                </a:solidFill>
              </a:rPr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6757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92" y="5593298"/>
            <a:ext cx="281991" cy="4177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625" y="6001562"/>
            <a:ext cx="481963" cy="68611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7" y="5528931"/>
            <a:ext cx="517857" cy="76719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29" y="5968780"/>
            <a:ext cx="369684" cy="547682"/>
          </a:xfrm>
          <a:prstGeom prst="rect">
            <a:avLst/>
          </a:prstGeom>
        </p:spPr>
      </p:pic>
      <p:grpSp>
        <p:nvGrpSpPr>
          <p:cNvPr id="13" name="그룹 12"/>
          <p:cNvGrpSpPr/>
          <p:nvPr/>
        </p:nvGrpSpPr>
        <p:grpSpPr>
          <a:xfrm>
            <a:off x="0" y="887419"/>
            <a:ext cx="12192000" cy="427406"/>
            <a:chOff x="0" y="901067"/>
            <a:chExt cx="12192000" cy="427406"/>
          </a:xfrm>
        </p:grpSpPr>
        <p:sp>
          <p:nvSpPr>
            <p:cNvPr id="12" name="직사각형 11"/>
            <p:cNvSpPr/>
            <p:nvPr/>
          </p:nvSpPr>
          <p:spPr>
            <a:xfrm>
              <a:off x="0" y="928363"/>
              <a:ext cx="12192000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변수에서 </a:t>
              </a:r>
              <a:r>
                <a:rPr lang="en-US" altLang="ko-KR" dirty="0" err="1" smtClean="0">
                  <a:solidFill>
                    <a:schemeClr val="tx1"/>
                  </a:solidFill>
                </a:rPr>
                <a:t>const</a:t>
              </a:r>
              <a:r>
                <a:rPr lang="ko-KR" altLang="en-US" dirty="0" smtClean="0">
                  <a:solidFill>
                    <a:schemeClr val="tx1"/>
                  </a:solidFill>
                </a:rPr>
                <a:t>를 사용하는 방식</a:t>
              </a:r>
              <a:endParaRPr lang="en-US" altLang="ko-KR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98748" y="901067"/>
              <a:ext cx="184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320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210 싸나이 L" panose="02020603020101020101" pitchFamily="18" charset="-127"/>
                  <a:ea typeface="210 싸나이 L" panose="02020603020101020101" pitchFamily="18" charset="-127"/>
                </a:defRPr>
              </a:lvl1pPr>
            </a:lstStyle>
            <a:p>
              <a:endParaRPr lang="en-US" altLang="ko-KR" sz="2000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0340" y="120523"/>
            <a:ext cx="50561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2800">
                <a:ln w="9525">
                  <a:noFill/>
                </a:ln>
                <a:solidFill>
                  <a:srgbClr val="99D1C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4FA79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구성원 소개     </a:t>
            </a:r>
            <a:r>
              <a:rPr lang="en-US" altLang="ko-KR" sz="1600" dirty="0" err="1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const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대한 소개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자세한 설명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끄트</a:t>
            </a:r>
            <a:endParaRPr lang="ko-KR" altLang="en-US" sz="1600" dirty="0">
              <a:ln w="9525">
                <a:solidFill>
                  <a:schemeClr val="bg1">
                    <a:alpha val="0"/>
                  </a:schemeClr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23713" y="1390082"/>
            <a:ext cx="11734800" cy="34913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err="1" smtClean="0">
                <a:solidFill>
                  <a:schemeClr val="tx1"/>
                </a:solidFill>
              </a:rPr>
              <a:t>const</a:t>
            </a:r>
            <a:r>
              <a:rPr kumimoji="1" lang="en-US" altLang="ko-KR" dirty="0" smtClean="0">
                <a:solidFill>
                  <a:schemeClr val="tx1"/>
                </a:solidFill>
              </a:rPr>
              <a:t> </a:t>
            </a:r>
            <a:r>
              <a:rPr kumimoji="1" lang="en-US" altLang="ko-KR" dirty="0" err="1" smtClean="0">
                <a:solidFill>
                  <a:schemeClr val="tx1"/>
                </a:solidFill>
              </a:rPr>
              <a:t>int</a:t>
            </a:r>
            <a:r>
              <a:rPr kumimoji="1" lang="en-US" altLang="ko-KR" dirty="0" smtClean="0">
                <a:solidFill>
                  <a:schemeClr val="tx1"/>
                </a:solidFill>
              </a:rPr>
              <a:t> </a:t>
            </a:r>
            <a:r>
              <a:rPr kumimoji="1" lang="ko-KR" altLang="en-US" dirty="0" smtClean="0">
                <a:solidFill>
                  <a:schemeClr val="tx1"/>
                </a:solidFill>
              </a:rPr>
              <a:t>와 같이 자신이 사용해야할 변수의 자료형 앞에 </a:t>
            </a:r>
            <a:r>
              <a:rPr kumimoji="1" lang="en-US" altLang="ko-KR" dirty="0" err="1" smtClean="0">
                <a:solidFill>
                  <a:schemeClr val="tx1"/>
                </a:solidFill>
              </a:rPr>
              <a:t>const</a:t>
            </a:r>
            <a:r>
              <a:rPr kumimoji="1" lang="ko-KR" altLang="en-US" dirty="0" smtClean="0">
                <a:solidFill>
                  <a:schemeClr val="tx1"/>
                </a:solidFill>
              </a:rPr>
              <a:t>를 붙여주는 형식으로 사용한다</a:t>
            </a:r>
            <a:r>
              <a:rPr kumimoji="1" lang="en-US" altLang="ko-KR" dirty="0" smtClean="0">
                <a:solidFill>
                  <a:schemeClr val="tx1"/>
                </a:solidFill>
              </a:rPr>
              <a:t>.</a:t>
            </a:r>
          </a:p>
          <a:p>
            <a:pPr algn="ctr"/>
            <a:endParaRPr kumimoji="1" lang="en-US" altLang="ko-KR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dirty="0" smtClean="0">
                <a:solidFill>
                  <a:schemeClr val="tx1"/>
                </a:solidFill>
              </a:rPr>
              <a:t>          </a:t>
            </a:r>
            <a:endParaRPr kumimoji="1" lang="en-US" altLang="ko-KR" dirty="0" smtClean="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354" y="3449782"/>
            <a:ext cx="5067300" cy="2184400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384495" y="3135755"/>
            <a:ext cx="4804992" cy="25735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smtClean="0">
                <a:solidFill>
                  <a:schemeClr val="tx1"/>
                </a:solidFill>
              </a:rPr>
              <a:t>사진과 같이 수정하려고 하면 오류가 뜨죠</a:t>
            </a:r>
            <a:r>
              <a:rPr kumimoji="1" lang="en-US" altLang="ko-KR" dirty="0" smtClean="0">
                <a:solidFill>
                  <a:schemeClr val="tx1"/>
                </a:solidFill>
              </a:rPr>
              <a:t>?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92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92" y="5593298"/>
            <a:ext cx="281991" cy="4177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625" y="6001562"/>
            <a:ext cx="481963" cy="68611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7" y="5528931"/>
            <a:ext cx="517857" cy="76719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29" y="5968780"/>
            <a:ext cx="369684" cy="547682"/>
          </a:xfrm>
          <a:prstGeom prst="rect">
            <a:avLst/>
          </a:prstGeom>
        </p:spPr>
      </p:pic>
      <p:grpSp>
        <p:nvGrpSpPr>
          <p:cNvPr id="13" name="그룹 12"/>
          <p:cNvGrpSpPr/>
          <p:nvPr/>
        </p:nvGrpSpPr>
        <p:grpSpPr>
          <a:xfrm>
            <a:off x="70340" y="901274"/>
            <a:ext cx="12192000" cy="427406"/>
            <a:chOff x="0" y="901067"/>
            <a:chExt cx="12192000" cy="427406"/>
          </a:xfrm>
        </p:grpSpPr>
        <p:sp>
          <p:nvSpPr>
            <p:cNvPr id="12" name="직사각형 11"/>
            <p:cNvSpPr/>
            <p:nvPr/>
          </p:nvSpPr>
          <p:spPr>
            <a:xfrm>
              <a:off x="0" y="928363"/>
              <a:ext cx="12192000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함수에서 </a:t>
              </a:r>
              <a:r>
                <a:rPr lang="en-US" altLang="ko-KR" dirty="0" err="1" smtClean="0">
                  <a:solidFill>
                    <a:schemeClr val="tx1"/>
                  </a:solidFill>
                </a:rPr>
                <a:t>const</a:t>
              </a:r>
              <a:r>
                <a:rPr lang="ko-KR" altLang="en-US" dirty="0" smtClean="0">
                  <a:solidFill>
                    <a:schemeClr val="tx1"/>
                  </a:solidFill>
                </a:rPr>
                <a:t>를 사용하는 방식</a:t>
              </a:r>
              <a:endParaRPr lang="en-US" altLang="ko-KR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98748" y="901067"/>
              <a:ext cx="184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320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210 싸나이 L" panose="02020603020101020101" pitchFamily="18" charset="-127"/>
                  <a:ea typeface="210 싸나이 L" panose="02020603020101020101" pitchFamily="18" charset="-127"/>
                </a:defRPr>
              </a:lvl1pPr>
            </a:lstStyle>
            <a:p>
              <a:endParaRPr lang="en-US" altLang="ko-KR" sz="2000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0340" y="120523"/>
            <a:ext cx="50561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2800">
                <a:ln w="9525">
                  <a:noFill/>
                </a:ln>
                <a:solidFill>
                  <a:srgbClr val="99D1C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4FA79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구성원 소개     </a:t>
            </a:r>
            <a:r>
              <a:rPr lang="en-US" altLang="ko-KR" sz="1600" dirty="0" err="1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const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대한 소개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자세한 설명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끄트</a:t>
            </a:r>
            <a:endParaRPr lang="ko-KR" altLang="en-US" sz="1600" dirty="0">
              <a:ln w="9525">
                <a:solidFill>
                  <a:schemeClr val="bg1">
                    <a:alpha val="0"/>
                  </a:schemeClr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126532" y="1919448"/>
            <a:ext cx="6483927" cy="34913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 smtClean="0">
                <a:solidFill>
                  <a:schemeClr val="tx1"/>
                </a:solidFill>
              </a:rPr>
              <a:t>이런 형태로 매개변수를 받는 부분의 뒤쪽에 </a:t>
            </a:r>
            <a:r>
              <a:rPr kumimoji="1" lang="en-US" altLang="ko-KR" dirty="0" err="1" smtClean="0">
                <a:solidFill>
                  <a:schemeClr val="tx1"/>
                </a:solidFill>
              </a:rPr>
              <a:t>const</a:t>
            </a:r>
            <a:r>
              <a:rPr kumimoji="1" lang="ko-KR" altLang="en-US" dirty="0" smtClean="0">
                <a:solidFill>
                  <a:schemeClr val="tx1"/>
                </a:solidFill>
              </a:rPr>
              <a:t>를 </a:t>
            </a:r>
            <a:endParaRPr kumimoji="1"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kumimoji="1" lang="ko-KR" altLang="en-US" dirty="0" smtClean="0">
                <a:solidFill>
                  <a:schemeClr val="tx1"/>
                </a:solidFill>
              </a:rPr>
              <a:t>작성하여 멤버함수의 값을 변경할수 없다</a:t>
            </a:r>
            <a:r>
              <a:rPr kumimoji="1" lang="en-US" altLang="ko-KR" dirty="0">
                <a:solidFill>
                  <a:schemeClr val="tx1"/>
                </a:solidFill>
              </a:rPr>
              <a:t>.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7" y="2335782"/>
            <a:ext cx="4293918" cy="262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1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92" y="5593298"/>
            <a:ext cx="281991" cy="4177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625" y="6001562"/>
            <a:ext cx="481963" cy="68611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7" y="5528931"/>
            <a:ext cx="517857" cy="76719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29" y="5968780"/>
            <a:ext cx="369684" cy="547682"/>
          </a:xfrm>
          <a:prstGeom prst="rect">
            <a:avLst/>
          </a:prstGeom>
        </p:spPr>
      </p:pic>
      <p:grpSp>
        <p:nvGrpSpPr>
          <p:cNvPr id="13" name="그룹 12"/>
          <p:cNvGrpSpPr/>
          <p:nvPr/>
        </p:nvGrpSpPr>
        <p:grpSpPr>
          <a:xfrm>
            <a:off x="0" y="887419"/>
            <a:ext cx="12192000" cy="427406"/>
            <a:chOff x="0" y="901067"/>
            <a:chExt cx="12192000" cy="427406"/>
          </a:xfrm>
        </p:grpSpPr>
        <p:sp>
          <p:nvSpPr>
            <p:cNvPr id="12" name="직사각형 11"/>
            <p:cNvSpPr/>
            <p:nvPr/>
          </p:nvSpPr>
          <p:spPr>
            <a:xfrm>
              <a:off x="0" y="928363"/>
              <a:ext cx="12192000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 smtClean="0">
                  <a:solidFill>
                    <a:schemeClr val="tx1"/>
                  </a:solidFill>
                </a:rPr>
                <a:t>const</a:t>
              </a:r>
              <a:r>
                <a:rPr lang="ko-KR" altLang="en-US" dirty="0" smtClean="0">
                  <a:solidFill>
                    <a:schemeClr val="tx1"/>
                  </a:solidFill>
                </a:rPr>
                <a:t>란 무엇인가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?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98748" y="901067"/>
              <a:ext cx="184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320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210 싸나이 L" panose="02020603020101020101" pitchFamily="18" charset="-127"/>
                  <a:ea typeface="210 싸나이 L" panose="02020603020101020101" pitchFamily="18" charset="-127"/>
                </a:defRPr>
              </a:lvl1pPr>
            </a:lstStyle>
            <a:p>
              <a:endParaRPr lang="en-US" altLang="ko-KR" sz="2000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0340" y="120523"/>
            <a:ext cx="50561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2800">
                <a:ln w="9525">
                  <a:noFill/>
                </a:ln>
                <a:solidFill>
                  <a:srgbClr val="99D1C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4FA79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구성원 소개     </a:t>
            </a:r>
            <a:r>
              <a:rPr lang="en-US" altLang="ko-KR" sz="1600" dirty="0" err="1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const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대한 소개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자세한 설명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끄트</a:t>
            </a:r>
            <a:endParaRPr lang="ko-KR" altLang="en-US" sz="1600" dirty="0">
              <a:ln w="9525">
                <a:solidFill>
                  <a:schemeClr val="bg1">
                    <a:alpha val="0"/>
                  </a:schemeClr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6636327" y="1704109"/>
            <a:ext cx="5334000" cy="36991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dirty="0" smtClean="0"/>
              <a:t>c</a:t>
            </a:r>
            <a:r>
              <a:rPr kumimoji="1" lang="ko-KR" altLang="en-US" dirty="0" smtClean="0">
                <a:solidFill>
                  <a:schemeClr val="tx1"/>
                </a:solidFill>
              </a:rPr>
              <a:t>이렇게 같은 </a:t>
            </a:r>
            <a:r>
              <a:rPr kumimoji="1" lang="en-US" altLang="ko-KR" dirty="0" smtClean="0">
                <a:solidFill>
                  <a:schemeClr val="tx1"/>
                </a:solidFill>
              </a:rPr>
              <a:t>class</a:t>
            </a:r>
            <a:r>
              <a:rPr kumimoji="1" lang="ko-KR" altLang="en-US" dirty="0" smtClean="0">
                <a:solidFill>
                  <a:schemeClr val="tx1"/>
                </a:solidFill>
              </a:rPr>
              <a:t>안에 같은 이름의 멤버함수가</a:t>
            </a:r>
            <a:endParaRPr kumimoji="1"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kumimoji="1" lang="ko-KR" altLang="en-US" dirty="0" smtClean="0">
                <a:solidFill>
                  <a:schemeClr val="tx1"/>
                </a:solidFill>
              </a:rPr>
              <a:t>존재하더라도 둘중 하나에 </a:t>
            </a:r>
            <a:r>
              <a:rPr kumimoji="1" lang="en-US" altLang="ko-KR" dirty="0" err="1" smtClean="0">
                <a:solidFill>
                  <a:schemeClr val="tx1"/>
                </a:solidFill>
              </a:rPr>
              <a:t>const</a:t>
            </a:r>
            <a:r>
              <a:rPr kumimoji="1" lang="ko-KR" altLang="en-US" dirty="0" smtClean="0">
                <a:solidFill>
                  <a:schemeClr val="tx1"/>
                </a:solidFill>
              </a:rPr>
              <a:t>가</a:t>
            </a:r>
            <a:endParaRPr kumimoji="1"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kumimoji="1" lang="ko-KR" altLang="en-US" dirty="0" smtClean="0">
                <a:solidFill>
                  <a:schemeClr val="tx1"/>
                </a:solidFill>
              </a:rPr>
              <a:t>작성되어 있다면</a:t>
            </a:r>
            <a:r>
              <a:rPr kumimoji="1" lang="en-US" altLang="ko-KR" dirty="0" smtClean="0">
                <a:solidFill>
                  <a:schemeClr val="tx1"/>
                </a:solidFill>
              </a:rPr>
              <a:t>,</a:t>
            </a:r>
            <a:r>
              <a:rPr kumimoji="1" lang="ko-KR" altLang="en-US" dirty="0" smtClean="0">
                <a:solidFill>
                  <a:schemeClr val="tx1"/>
                </a:solidFill>
              </a:rPr>
              <a:t> 오류가 발생하지 않는다</a:t>
            </a:r>
            <a:r>
              <a:rPr kumimoji="1" lang="en-US" altLang="ko-KR" dirty="0" smtClean="0">
                <a:solidFill>
                  <a:schemeClr val="tx1"/>
                </a:solidFill>
              </a:rPr>
              <a:t>.</a:t>
            </a:r>
            <a:endParaRPr kumimoji="1"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853" y="1666952"/>
            <a:ext cx="6057900" cy="39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0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8492" y="5593298"/>
            <a:ext cx="281991" cy="41776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4625" y="6001562"/>
            <a:ext cx="481963" cy="68611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97" y="5528931"/>
            <a:ext cx="517857" cy="76719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329" y="5968780"/>
            <a:ext cx="369684" cy="547682"/>
          </a:xfrm>
          <a:prstGeom prst="rect">
            <a:avLst/>
          </a:prstGeom>
        </p:spPr>
      </p:pic>
      <p:grpSp>
        <p:nvGrpSpPr>
          <p:cNvPr id="13" name="그룹 12"/>
          <p:cNvGrpSpPr/>
          <p:nvPr/>
        </p:nvGrpSpPr>
        <p:grpSpPr>
          <a:xfrm>
            <a:off x="0" y="887419"/>
            <a:ext cx="12192000" cy="427406"/>
            <a:chOff x="0" y="901067"/>
            <a:chExt cx="12192000" cy="427406"/>
          </a:xfrm>
        </p:grpSpPr>
        <p:sp>
          <p:nvSpPr>
            <p:cNvPr id="12" name="직사각형 11"/>
            <p:cNvSpPr/>
            <p:nvPr/>
          </p:nvSpPr>
          <p:spPr>
            <a:xfrm>
              <a:off x="0" y="928363"/>
              <a:ext cx="12192000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객체상에서의 </a:t>
              </a:r>
              <a:r>
                <a:rPr lang="en-US" altLang="ko-KR" dirty="0" err="1" smtClean="0">
                  <a:solidFill>
                    <a:schemeClr val="tx1"/>
                  </a:solidFill>
                </a:rPr>
                <a:t>const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dirty="0" smtClean="0">
                  <a:solidFill>
                    <a:schemeClr val="tx1"/>
                  </a:solidFill>
                </a:rPr>
                <a:t>사용 방식</a:t>
              </a:r>
              <a:endParaRPr lang="en-US" altLang="ko-KR" dirty="0" smtClean="0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98748" y="901067"/>
              <a:ext cx="1847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3200">
                  <a:ln>
                    <a:solidFill>
                      <a:schemeClr val="bg1">
                        <a:alpha val="0"/>
                      </a:schemeClr>
                    </a:solidFill>
                  </a:ln>
                  <a:latin typeface="210 싸나이 L" panose="02020603020101020101" pitchFamily="18" charset="-127"/>
                  <a:ea typeface="210 싸나이 L" panose="02020603020101020101" pitchFamily="18" charset="-127"/>
                </a:defRPr>
              </a:lvl1pPr>
            </a:lstStyle>
            <a:p>
              <a:endParaRPr lang="en-US" altLang="ko-KR" sz="2000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70340" y="120523"/>
            <a:ext cx="50561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2800">
                <a:ln w="9525">
                  <a:noFill/>
                </a:ln>
                <a:solidFill>
                  <a:srgbClr val="99D1C9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4FA79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구성원 소개     </a:t>
            </a:r>
            <a:r>
              <a:rPr lang="en-US" altLang="ko-KR" sz="1600" dirty="0" err="1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const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rgbClr val="9FD1C9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대한 소개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자세한 설명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        </a:t>
            </a:r>
            <a:r>
              <a:rPr lang="ko-KR" altLang="en-US" sz="1600" dirty="0" smtClean="0">
                <a:ln w="9525"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1">
                    <a:lumMod val="40000"/>
                    <a:lumOff val="60000"/>
                  </a:schemeClr>
                </a:solidFill>
              </a:rPr>
              <a:t>끄트</a:t>
            </a:r>
            <a:endParaRPr lang="ko-KR" altLang="en-US" sz="1600" dirty="0">
              <a:ln w="9525">
                <a:solidFill>
                  <a:schemeClr val="bg1">
                    <a:alpha val="0"/>
                  </a:schemeClr>
                </a:solidFill>
              </a:ln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348205" y="2159222"/>
            <a:ext cx="6843795" cy="349134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</a:rPr>
              <a:t>이런형태로 객체 앞에 </a:t>
            </a:r>
            <a:r>
              <a:rPr lang="en-US" altLang="ko-KR" b="1" dirty="0" err="1" smtClean="0">
                <a:solidFill>
                  <a:schemeClr val="tx1"/>
                </a:solidFill>
              </a:rPr>
              <a:t>const</a:t>
            </a:r>
            <a:r>
              <a:rPr lang="ko-KR" altLang="en-US" b="1" dirty="0" smtClean="0">
                <a:solidFill>
                  <a:schemeClr val="tx1"/>
                </a:solidFill>
              </a:rPr>
              <a:t>를 붙여 사용하면</a:t>
            </a:r>
            <a:r>
              <a:rPr lang="en-US" altLang="ko-KR" b="1" dirty="0" smtClean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kumimoji="1" lang="ko-KR" altLang="en-US" b="1" dirty="0" smtClean="0">
                <a:solidFill>
                  <a:schemeClr val="tx1"/>
                </a:solidFill>
              </a:rPr>
              <a:t>이 객체를 통해서는 값의 변경이 불가능해집니다</a:t>
            </a:r>
            <a:r>
              <a:rPr kumimoji="1" lang="en-US" altLang="ko-KR" b="1" dirty="0" smtClean="0">
                <a:solidFill>
                  <a:schemeClr val="tx1"/>
                </a:solidFill>
              </a:rPr>
              <a:t>.</a:t>
            </a:r>
            <a:endParaRPr kumimoji="1" lang="ko-KR" altLang="en-US" dirty="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42" y="2897332"/>
            <a:ext cx="4837663" cy="177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958923" y="2617623"/>
            <a:ext cx="83038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smtClean="0">
                <a:solidFill>
                  <a:srgbClr val="7FC3B8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#</a:t>
            </a:r>
            <a:r>
              <a:rPr lang="ko-KR" altLang="en-US" sz="6000" dirty="0" smtClean="0">
                <a:solidFill>
                  <a:srgbClr val="7FC3B8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감사합니다 </a:t>
            </a:r>
            <a:r>
              <a:rPr lang="en-US" altLang="ko-KR" sz="6000" dirty="0" smtClean="0">
                <a:solidFill>
                  <a:srgbClr val="4FA798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#Thank </a:t>
            </a:r>
            <a:r>
              <a:rPr lang="en-US" altLang="ko-KR" sz="6000" dirty="0" smtClean="0">
                <a:solidFill>
                  <a:srgbClr val="40887C"/>
                </a:solidFill>
                <a:latin typeface="Rix미니버스D R" panose="02000503000000000000" pitchFamily="2" charset="-127"/>
                <a:ea typeface="Rix미니버스D R" panose="02000503000000000000" pitchFamily="2" charset="-127"/>
              </a:rPr>
              <a:t>#You</a:t>
            </a:r>
          </a:p>
        </p:txBody>
      </p:sp>
    </p:spTree>
    <p:extLst>
      <p:ext uri="{BB962C8B-B14F-4D97-AF65-F5344CB8AC3E}">
        <p14:creationId xmlns:p14="http://schemas.microsoft.com/office/powerpoint/2010/main" val="125440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225</Words>
  <Application>Microsoft Macintosh PowerPoint</Application>
  <PresentationFormat>와이드스크린</PresentationFormat>
  <Paragraphs>39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Rix미니버스D R</vt:lpstr>
      <vt:lpstr>나눔스퀘어 Bold</vt:lpstr>
      <vt:lpstr>210 싸나이 L</vt:lpstr>
      <vt:lpstr>맑은 고딕</vt:lpstr>
      <vt:lpstr>나눔스퀘어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하지형</dc:creator>
  <cp:lastModifiedBy>Sun Set</cp:lastModifiedBy>
  <cp:revision>687</cp:revision>
  <dcterms:created xsi:type="dcterms:W3CDTF">2016-03-29T11:52:14Z</dcterms:created>
  <dcterms:modified xsi:type="dcterms:W3CDTF">2017-04-10T16:14:27Z</dcterms:modified>
</cp:coreProperties>
</file>